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1A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22960" y="777240"/>
            <a:ext cx="182880" cy="182880"/>
          </a:xfrm>
          <a:prstGeom prst="ellipse">
            <a:avLst/>
          </a:prstGeom>
          <a:solidFill>
            <a:srgbClr val="E84A2C"/>
          </a:solidFill>
          <a:ln/>
        </p:spPr>
      </p:sp>
      <p:sp>
        <p:nvSpPr>
          <p:cNvPr id="3" name="Text 1"/>
          <p:cNvSpPr/>
          <p:nvPr/>
        </p:nvSpPr>
        <p:spPr>
          <a:xfrm>
            <a:off x="1097280" y="68580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PXSOL WEB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822960" y="1920240"/>
            <a:ext cx="105156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5600"/>
              </a:lnSpc>
              <a:buNone/>
            </a:pPr>
            <a:r>
              <a:rPr lang="en-US" sz="5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Los dos wizards</a:t>
            </a:r>
            <a:endParaRPr lang="en-US" sz="5400" dirty="0"/>
          </a:p>
          <a:p>
            <a:pPr indent="0" marL="0">
              <a:lnSpc>
                <a:spcPts val="5600"/>
              </a:lnSpc>
              <a:buNone/>
            </a:pPr>
            <a:r>
              <a:rPr lang="en-US" sz="5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 configuración</a:t>
            </a:r>
            <a:endParaRPr lang="en-US" sz="5400" dirty="0"/>
          </a:p>
        </p:txBody>
      </p:sp>
      <p:sp>
        <p:nvSpPr>
          <p:cNvPr id="5" name="Text 3"/>
          <p:cNvSpPr/>
          <p:nvPr/>
        </p:nvSpPr>
        <p:spPr>
          <a:xfrm>
            <a:off x="841248" y="397764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Cómo </a:t>
            </a:r>
            <a:pPr indent="0" marL="0">
              <a:buNone/>
            </a:pPr>
            <a:r>
              <a:rPr lang="en-US" sz="2000" i="1" dirty="0">
                <a:solidFill>
                  <a:srgbClr val="E84A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activamos, retenemos y convertimos</a:t>
            </a:r>
            <a:pPr indent="0" marL="0">
              <a:buNone/>
            </a:pPr>
            <a:r>
              <a:rPr lang="en-US" sz="2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hoteleros.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841248" y="452628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7373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Propuesta para el equipo comercial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841248" y="5532120"/>
            <a:ext cx="2560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E84A2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500+</a:t>
            </a:r>
            <a:endParaRPr lang="en-US" sz="3000" dirty="0"/>
          </a:p>
        </p:txBody>
      </p:sp>
      <p:sp>
        <p:nvSpPr>
          <p:cNvPr id="8" name="Text 6"/>
          <p:cNvSpPr/>
          <p:nvPr/>
        </p:nvSpPr>
        <p:spPr>
          <a:xfrm>
            <a:off x="841248" y="6126480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AA0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hoteles activos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3584448" y="5532120"/>
            <a:ext cx="2560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E84A2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+38%</a:t>
            </a:r>
            <a:endParaRPr lang="en-US" sz="3000" dirty="0"/>
          </a:p>
        </p:txBody>
      </p:sp>
      <p:sp>
        <p:nvSpPr>
          <p:cNvPr id="10" name="Text 8"/>
          <p:cNvSpPr/>
          <p:nvPr/>
        </p:nvSpPr>
        <p:spPr>
          <a:xfrm>
            <a:off x="3584448" y="6126480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AA0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reservas directas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6327648" y="5532120"/>
            <a:ext cx="2560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E84A2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9</a:t>
            </a:r>
            <a:endParaRPr lang="en-US" sz="3000" dirty="0"/>
          </a:p>
        </p:txBody>
      </p:sp>
      <p:sp>
        <p:nvSpPr>
          <p:cNvPr id="12" name="Text 10"/>
          <p:cNvSpPr/>
          <p:nvPr/>
        </p:nvSpPr>
        <p:spPr>
          <a:xfrm>
            <a:off x="6327648" y="6126480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AA0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países LATAM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9070848" y="5532120"/>
            <a:ext cx="2560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E84A2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15+</a:t>
            </a:r>
            <a:endParaRPr lang="en-US" sz="3000" dirty="0"/>
          </a:p>
        </p:txBody>
      </p:sp>
      <p:sp>
        <p:nvSpPr>
          <p:cNvPr id="14" name="Text 12"/>
          <p:cNvSpPr/>
          <p:nvPr/>
        </p:nvSpPr>
        <p:spPr>
          <a:xfrm>
            <a:off x="9070848" y="6126480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AA0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años en el sector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22960" y="676656"/>
            <a:ext cx="146304" cy="146304"/>
          </a:xfrm>
          <a:prstGeom prst="ellipse">
            <a:avLst/>
          </a:prstGeom>
          <a:solidFill>
            <a:srgbClr val="E84A2C"/>
          </a:solidFill>
          <a:ln/>
        </p:spPr>
      </p:sp>
      <p:sp>
        <p:nvSpPr>
          <p:cNvPr id="3" name="Text 1"/>
          <p:cNvSpPr/>
          <p:nvPr/>
        </p:nvSpPr>
        <p:spPr>
          <a:xfrm>
            <a:off x="1060704" y="59436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200" kern="0" dirty="0">
                <a:solidFill>
                  <a:srgbClr val="E84A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ESTRATEGIA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822960" y="960120"/>
            <a:ext cx="10515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Un solo wizard no alcanza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822960" y="169164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7373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Dos momentos distintos del hotelero. Dos objetivos comerciales distintos.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822960" y="2331720"/>
            <a:ext cx="5029200" cy="4023360"/>
          </a:xfrm>
          <a:prstGeom prst="rect">
            <a:avLst/>
          </a:prstGeom>
          <a:solidFill>
            <a:srgbClr val="F6F6F6"/>
          </a:solidFill>
          <a:ln w="12700">
            <a:solidFill>
              <a:srgbClr val="D9D9D9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822960" y="2331720"/>
            <a:ext cx="5029200" cy="109728"/>
          </a:xfrm>
          <a:prstGeom prst="rect">
            <a:avLst/>
          </a:prstGeom>
          <a:solidFill>
            <a:srgbClr val="E84A2C"/>
          </a:solidFill>
          <a:ln/>
        </p:spPr>
      </p:sp>
      <p:sp>
        <p:nvSpPr>
          <p:cNvPr id="8" name="Text 6"/>
          <p:cNvSpPr/>
          <p:nvPr/>
        </p:nvSpPr>
        <p:spPr>
          <a:xfrm>
            <a:off x="1143000" y="2606040"/>
            <a:ext cx="4389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Wizard 1 · Onboarding</a:t>
            </a:r>
            <a:endParaRPr lang="en-US" sz="1900" dirty="0"/>
          </a:p>
        </p:txBody>
      </p:sp>
      <p:sp>
        <p:nvSpPr>
          <p:cNvPr id="9" name="Text 7"/>
          <p:cNvSpPr/>
          <p:nvPr/>
        </p:nvSpPr>
        <p:spPr>
          <a:xfrm>
            <a:off x="1143000" y="3063240"/>
            <a:ext cx="4389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84A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~5 min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1143000" y="3611880"/>
            <a:ext cx="4389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rgbClr val="7373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CUÁNDO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1143000" y="3831336"/>
            <a:ext cx="4389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Arranque del trial</a:t>
            </a:r>
            <a:endParaRPr lang="en-US" sz="1350" dirty="0"/>
          </a:p>
        </p:txBody>
      </p:sp>
      <p:sp>
        <p:nvSpPr>
          <p:cNvPr id="12" name="Text 10"/>
          <p:cNvSpPr/>
          <p:nvPr/>
        </p:nvSpPr>
        <p:spPr>
          <a:xfrm>
            <a:off x="1143000" y="4270248"/>
            <a:ext cx="4389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rgbClr val="7373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QUIERE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1143000" y="4489704"/>
            <a:ext cx="4389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“Tener mi sitio funcionando YA”</a:t>
            </a:r>
            <a:endParaRPr lang="en-US" sz="1350" dirty="0"/>
          </a:p>
        </p:txBody>
      </p:sp>
      <p:sp>
        <p:nvSpPr>
          <p:cNvPr id="14" name="Text 12"/>
          <p:cNvSpPr/>
          <p:nvPr/>
        </p:nvSpPr>
        <p:spPr>
          <a:xfrm>
            <a:off x="1143000" y="4928616"/>
            <a:ext cx="4389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rgbClr val="7373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OBJETIVO COMERCIAL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1143000" y="5148072"/>
            <a:ext cx="4389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ACTIVACIÓN — ver valor en minutos</a:t>
            </a:r>
            <a:endParaRPr lang="en-US" sz="1350" dirty="0"/>
          </a:p>
        </p:txBody>
      </p:sp>
      <p:sp>
        <p:nvSpPr>
          <p:cNvPr id="16" name="Text 14"/>
          <p:cNvSpPr/>
          <p:nvPr/>
        </p:nvSpPr>
        <p:spPr>
          <a:xfrm>
            <a:off x="1143000" y="5586984"/>
            <a:ext cx="4389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rgbClr val="7373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PILAR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1143000" y="5806440"/>
            <a:ext cx="4389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Conversión rápida</a:t>
            </a:r>
            <a:endParaRPr lang="en-US" sz="1350" dirty="0"/>
          </a:p>
        </p:txBody>
      </p:sp>
      <p:sp>
        <p:nvSpPr>
          <p:cNvPr id="18" name="Shape 16"/>
          <p:cNvSpPr/>
          <p:nvPr/>
        </p:nvSpPr>
        <p:spPr>
          <a:xfrm>
            <a:off x="6263640" y="2331720"/>
            <a:ext cx="5029200" cy="4023360"/>
          </a:xfrm>
          <a:prstGeom prst="rect">
            <a:avLst/>
          </a:prstGeom>
          <a:solidFill>
            <a:srgbClr val="F6F6F6"/>
          </a:solidFill>
          <a:ln w="12700">
            <a:solidFill>
              <a:srgbClr val="D9D9D9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6263640" y="2331720"/>
            <a:ext cx="5029200" cy="109728"/>
          </a:xfrm>
          <a:prstGeom prst="rect">
            <a:avLst/>
          </a:prstGeom>
          <a:solidFill>
            <a:srgbClr val="1A4DCC"/>
          </a:solidFill>
          <a:ln/>
        </p:spPr>
      </p:sp>
      <p:sp>
        <p:nvSpPr>
          <p:cNvPr id="20" name="Text 18"/>
          <p:cNvSpPr/>
          <p:nvPr/>
        </p:nvSpPr>
        <p:spPr>
          <a:xfrm>
            <a:off x="6583680" y="2606040"/>
            <a:ext cx="4389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Wizard 2 · Configuración completa</a:t>
            </a:r>
            <a:endParaRPr lang="en-US" sz="1900" dirty="0"/>
          </a:p>
        </p:txBody>
      </p:sp>
      <p:sp>
        <p:nvSpPr>
          <p:cNvPr id="21" name="Text 19"/>
          <p:cNvSpPr/>
          <p:nvPr/>
        </p:nvSpPr>
        <p:spPr>
          <a:xfrm>
            <a:off x="6583680" y="3063240"/>
            <a:ext cx="4389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4D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~25 min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6583680" y="3611880"/>
            <a:ext cx="4389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rgbClr val="7373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CUÁNDO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6583680" y="3831336"/>
            <a:ext cx="4389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 el sitio ya publicado</a:t>
            </a:r>
            <a:endParaRPr lang="en-US" sz="1350" dirty="0"/>
          </a:p>
        </p:txBody>
      </p:sp>
      <p:sp>
        <p:nvSpPr>
          <p:cNvPr id="24" name="Text 22"/>
          <p:cNvSpPr/>
          <p:nvPr/>
        </p:nvSpPr>
        <p:spPr>
          <a:xfrm>
            <a:off x="6583680" y="4270248"/>
            <a:ext cx="4389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rgbClr val="7373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QUIERE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6583680" y="4489704"/>
            <a:ext cx="4389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“Que mi sitio venda mejor”</a:t>
            </a:r>
            <a:endParaRPr lang="en-US" sz="1350" dirty="0"/>
          </a:p>
        </p:txBody>
      </p:sp>
      <p:sp>
        <p:nvSpPr>
          <p:cNvPr id="26" name="Text 24"/>
          <p:cNvSpPr/>
          <p:nvPr/>
        </p:nvSpPr>
        <p:spPr>
          <a:xfrm>
            <a:off x="6583680" y="4928616"/>
            <a:ext cx="4389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rgbClr val="7373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OBJETIVO COMERCIAL</a:t>
            </a:r>
            <a:endParaRPr lang="en-US" sz="950" dirty="0"/>
          </a:p>
        </p:txBody>
      </p:sp>
      <p:sp>
        <p:nvSpPr>
          <p:cNvPr id="27" name="Text 25"/>
          <p:cNvSpPr/>
          <p:nvPr/>
        </p:nvSpPr>
        <p:spPr>
          <a:xfrm>
            <a:off x="6583680" y="5148072"/>
            <a:ext cx="4389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RETENCIÓN + conversión a plan pago</a:t>
            </a:r>
            <a:endParaRPr lang="en-US" sz="1350" dirty="0"/>
          </a:p>
        </p:txBody>
      </p:sp>
      <p:sp>
        <p:nvSpPr>
          <p:cNvPr id="28" name="Text 26"/>
          <p:cNvSpPr/>
          <p:nvPr/>
        </p:nvSpPr>
        <p:spPr>
          <a:xfrm>
            <a:off x="6583680" y="5586984"/>
            <a:ext cx="4389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rgbClr val="7373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PILAR</a:t>
            </a:r>
            <a:endParaRPr lang="en-US" sz="950" dirty="0"/>
          </a:p>
        </p:txBody>
      </p:sp>
      <p:sp>
        <p:nvSpPr>
          <p:cNvPr id="29" name="Text 27"/>
          <p:cNvSpPr/>
          <p:nvPr/>
        </p:nvSpPr>
        <p:spPr>
          <a:xfrm>
            <a:off x="6583680" y="5806440"/>
            <a:ext cx="4389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Inteligencia + Acompañamiento</a:t>
            </a:r>
            <a:endParaRPr lang="en-US" sz="13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22960" y="676656"/>
            <a:ext cx="146304" cy="146304"/>
          </a:xfrm>
          <a:prstGeom prst="ellipse">
            <a:avLst/>
          </a:prstGeom>
          <a:solidFill>
            <a:srgbClr val="E84A2C"/>
          </a:solidFill>
          <a:ln/>
        </p:spPr>
      </p:sp>
      <p:sp>
        <p:nvSpPr>
          <p:cNvPr id="3" name="Text 1"/>
          <p:cNvSpPr/>
          <p:nvPr/>
        </p:nvSpPr>
        <p:spPr>
          <a:xfrm>
            <a:off x="1060704" y="59436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200" kern="0" dirty="0">
                <a:solidFill>
                  <a:srgbClr val="E84A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WIZARD 1 · ONBOARDING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822960" y="960120"/>
            <a:ext cx="10515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 minutos hasta el “aha”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822960" y="169164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7373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Llevar al hotelero de cero a “mi sitio existe y se ve profesional” en una sola sesión. Nunca pide más de lo mínimo.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822960" y="2651760"/>
            <a:ext cx="2084832" cy="3108960"/>
          </a:xfrm>
          <a:prstGeom prst="rect">
            <a:avLst/>
          </a:prstGeom>
          <a:solidFill>
            <a:srgbClr val="F6F6F6"/>
          </a:solidFill>
          <a:ln w="12700">
            <a:solidFill>
              <a:srgbClr val="D9D9D9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1143000" y="2926080"/>
            <a:ext cx="640080" cy="640080"/>
          </a:xfrm>
          <a:prstGeom prst="ellipse">
            <a:avLst/>
          </a:prstGeom>
          <a:solidFill>
            <a:srgbClr val="1A1A1A"/>
          </a:solidFill>
          <a:ln/>
        </p:spPr>
      </p:sp>
      <p:sp>
        <p:nvSpPr>
          <p:cNvPr id="8" name="Text 6"/>
          <p:cNvSpPr/>
          <p:nvPr/>
        </p:nvSpPr>
        <p:spPr>
          <a:xfrm>
            <a:off x="1143000" y="2990088"/>
            <a:ext cx="6400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1097280" y="3749040"/>
            <a:ext cx="162763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Plantilla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097280" y="4297680"/>
            <a:ext cx="1627632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7373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Elegir 1 plantilla. Resultado visual al instante.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3026664" y="2651760"/>
            <a:ext cx="2084832" cy="3108960"/>
          </a:xfrm>
          <a:prstGeom prst="rect">
            <a:avLst/>
          </a:prstGeom>
          <a:solidFill>
            <a:srgbClr val="F6F6F6"/>
          </a:solidFill>
          <a:ln w="12700">
            <a:solidFill>
              <a:srgbClr val="D9D9D9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346704" y="2926080"/>
            <a:ext cx="640080" cy="640080"/>
          </a:xfrm>
          <a:prstGeom prst="ellipse">
            <a:avLst/>
          </a:prstGeom>
          <a:solidFill>
            <a:srgbClr val="1A1A1A"/>
          </a:solidFill>
          <a:ln/>
        </p:spPr>
      </p:sp>
      <p:sp>
        <p:nvSpPr>
          <p:cNvPr id="13" name="Text 11"/>
          <p:cNvSpPr/>
          <p:nvPr/>
        </p:nvSpPr>
        <p:spPr>
          <a:xfrm>
            <a:off x="3346704" y="2990088"/>
            <a:ext cx="6400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3300984" y="3749040"/>
            <a:ext cx="162763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Identidad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3300984" y="4297680"/>
            <a:ext cx="1627632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7373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Logo (o foto de ejemplo). Avanza igual si no lo tiene.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5230368" y="2651760"/>
            <a:ext cx="2084832" cy="3108960"/>
          </a:xfrm>
          <a:prstGeom prst="rect">
            <a:avLst/>
          </a:prstGeom>
          <a:solidFill>
            <a:srgbClr val="F6F6F6"/>
          </a:solidFill>
          <a:ln w="12700">
            <a:solidFill>
              <a:srgbClr val="D9D9D9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5550408" y="2926080"/>
            <a:ext cx="640080" cy="640080"/>
          </a:xfrm>
          <a:prstGeom prst="ellipse">
            <a:avLst/>
          </a:prstGeom>
          <a:solidFill>
            <a:srgbClr val="1A1A1A"/>
          </a:solidFill>
          <a:ln/>
        </p:spPr>
      </p:sp>
      <p:sp>
        <p:nvSpPr>
          <p:cNvPr id="18" name="Text 16"/>
          <p:cNvSpPr/>
          <p:nvPr/>
        </p:nvSpPr>
        <p:spPr>
          <a:xfrm>
            <a:off x="5550408" y="2990088"/>
            <a:ext cx="6400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2400" dirty="0"/>
          </a:p>
        </p:txBody>
      </p:sp>
      <p:sp>
        <p:nvSpPr>
          <p:cNvPr id="19" name="Text 17"/>
          <p:cNvSpPr/>
          <p:nvPr/>
        </p:nvSpPr>
        <p:spPr>
          <a:xfrm>
            <a:off x="5504688" y="3749040"/>
            <a:ext cx="162763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Info &amp; contacto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5504688" y="4297680"/>
            <a:ext cx="1627632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7373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Nombre, teléfono, email. Importa desde Booking.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7434072" y="2651760"/>
            <a:ext cx="2084832" cy="3108960"/>
          </a:xfrm>
          <a:prstGeom prst="rect">
            <a:avLst/>
          </a:prstGeom>
          <a:solidFill>
            <a:srgbClr val="F6F6F6"/>
          </a:solidFill>
          <a:ln w="12700">
            <a:solidFill>
              <a:srgbClr val="D9D9D9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7754112" y="2926080"/>
            <a:ext cx="640080" cy="640080"/>
          </a:xfrm>
          <a:prstGeom prst="ellipse">
            <a:avLst/>
          </a:prstGeom>
          <a:solidFill>
            <a:srgbClr val="1A1A1A"/>
          </a:solidFill>
          <a:ln/>
        </p:spPr>
      </p:sp>
      <p:sp>
        <p:nvSpPr>
          <p:cNvPr id="23" name="Text 21"/>
          <p:cNvSpPr/>
          <p:nvPr/>
        </p:nvSpPr>
        <p:spPr>
          <a:xfrm>
            <a:off x="7754112" y="2990088"/>
            <a:ext cx="6400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2400" dirty="0"/>
          </a:p>
        </p:txBody>
      </p:sp>
      <p:sp>
        <p:nvSpPr>
          <p:cNvPr id="24" name="Text 22"/>
          <p:cNvSpPr/>
          <p:nvPr/>
        </p:nvSpPr>
        <p:spPr>
          <a:xfrm>
            <a:off x="7708392" y="3749040"/>
            <a:ext cx="162763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Habitaciones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7708392" y="4297680"/>
            <a:ext cx="1627632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7373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Solo nombre y cantidad. Lo demás va al W2.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9637776" y="2651760"/>
            <a:ext cx="2084832" cy="3108960"/>
          </a:xfrm>
          <a:prstGeom prst="rect">
            <a:avLst/>
          </a:prstGeom>
          <a:solidFill>
            <a:srgbClr val="F6F6F6"/>
          </a:solidFill>
          <a:ln w="12700">
            <a:solidFill>
              <a:srgbClr val="D9D9D9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9957816" y="2926080"/>
            <a:ext cx="640080" cy="640080"/>
          </a:xfrm>
          <a:prstGeom prst="ellipse">
            <a:avLst/>
          </a:prstGeom>
          <a:solidFill>
            <a:srgbClr val="E84A2C"/>
          </a:solidFill>
          <a:ln/>
        </p:spPr>
      </p:sp>
      <p:sp>
        <p:nvSpPr>
          <p:cNvPr id="28" name="Text 26"/>
          <p:cNvSpPr/>
          <p:nvPr/>
        </p:nvSpPr>
        <p:spPr>
          <a:xfrm>
            <a:off x="9957816" y="2990088"/>
            <a:ext cx="6400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</a:t>
            </a:r>
            <a:endParaRPr lang="en-US" sz="2400" dirty="0"/>
          </a:p>
        </p:txBody>
      </p:sp>
      <p:sp>
        <p:nvSpPr>
          <p:cNvPr id="29" name="Text 27"/>
          <p:cNvSpPr/>
          <p:nvPr/>
        </p:nvSpPr>
        <p:spPr>
          <a:xfrm>
            <a:off x="9912096" y="3749040"/>
            <a:ext cx="162763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Lanzamiento</a:t>
            </a:r>
            <a:endParaRPr lang="en-US" sz="1600" dirty="0"/>
          </a:p>
        </p:txBody>
      </p:sp>
      <p:sp>
        <p:nvSpPr>
          <p:cNvPr id="30" name="Text 28"/>
          <p:cNvSpPr/>
          <p:nvPr/>
        </p:nvSpPr>
        <p:spPr>
          <a:xfrm>
            <a:off x="9912096" y="4297680"/>
            <a:ext cx="1627632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7373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 el sitio + compartir. El cierre emocional.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822960" y="598932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E84A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Regla de diseño:  </a:t>
            </a:r>
            <a:pPr algn="ctr"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todo lo que toma tiempo (fotos, tarifas, amenities, SEO) se difiere al Wizard 2.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22960" y="676656"/>
            <a:ext cx="146304" cy="146304"/>
          </a:xfrm>
          <a:prstGeom prst="ellipse">
            <a:avLst/>
          </a:prstGeom>
          <a:solidFill>
            <a:srgbClr val="E84A2C"/>
          </a:solidFill>
          <a:ln/>
        </p:spPr>
      </p:sp>
      <p:sp>
        <p:nvSpPr>
          <p:cNvPr id="3" name="Text 1"/>
          <p:cNvSpPr/>
          <p:nvPr/>
        </p:nvSpPr>
        <p:spPr>
          <a:xfrm>
            <a:off x="1060704" y="59436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200" kern="0" dirty="0">
                <a:solidFill>
                  <a:srgbClr val="E84A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WIZARD 1 · MECANISMOS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822960" y="960120"/>
            <a:ext cx="6400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La venta empieza acá</a:t>
            </a:r>
            <a:endParaRPr lang="en-US" sz="3600" dirty="0"/>
          </a:p>
        </p:txBody>
      </p:sp>
      <p:sp>
        <p:nvSpPr>
          <p:cNvPr id="5" name="Shape 3"/>
          <p:cNvSpPr/>
          <p:nvPr/>
        </p:nvSpPr>
        <p:spPr>
          <a:xfrm>
            <a:off x="822960" y="1965960"/>
            <a:ext cx="457200" cy="457200"/>
          </a:xfrm>
          <a:prstGeom prst="ellipse">
            <a:avLst/>
          </a:prstGeom>
          <a:solidFill>
            <a:srgbClr val="F6F6F6"/>
          </a:solidFill>
          <a:ln w="19050">
            <a:solidFill>
              <a:srgbClr val="E84A2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22960" y="1993392"/>
            <a:ext cx="4572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E84A2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463040" y="1920240"/>
            <a:ext cx="4297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Panel del asesor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463040" y="2286000"/>
            <a:ext cx="4480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250" dirty="0">
                <a:solidFill>
                  <a:srgbClr val="7373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Guiones para el comercial en cada paso del wizard.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822960" y="3017520"/>
            <a:ext cx="457200" cy="457200"/>
          </a:xfrm>
          <a:prstGeom prst="ellipse">
            <a:avLst/>
          </a:prstGeom>
          <a:solidFill>
            <a:srgbClr val="F6F6F6"/>
          </a:solidFill>
          <a:ln w="19050">
            <a:solidFill>
              <a:srgbClr val="E84A2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22960" y="3044952"/>
            <a:ext cx="4572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E84A2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1463040" y="2971800"/>
            <a:ext cx="4297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Contador de trial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1463040" y="3337560"/>
            <a:ext cx="4480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250" dirty="0">
                <a:solidFill>
                  <a:srgbClr val="7373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“Día 1 de 14” visible — urgencia honesta desde el minuto cero.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822960" y="4069080"/>
            <a:ext cx="457200" cy="457200"/>
          </a:xfrm>
          <a:prstGeom prst="ellipse">
            <a:avLst/>
          </a:prstGeom>
          <a:solidFill>
            <a:srgbClr val="F6F6F6"/>
          </a:solidFill>
          <a:ln w="19050">
            <a:solidFill>
              <a:srgbClr val="E84A2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22960" y="4096512"/>
            <a:ext cx="4572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E84A2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1463040" y="4023360"/>
            <a:ext cx="4297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Momento del celular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1463040" y="4389120"/>
            <a:ext cx="4480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250" dirty="0">
                <a:solidFill>
                  <a:srgbClr val="7373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Mostrar el sitio en el teléfono del hotelero en el paso 5.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822960" y="5120640"/>
            <a:ext cx="457200" cy="457200"/>
          </a:xfrm>
          <a:prstGeom prst="ellipse">
            <a:avLst/>
          </a:prstGeom>
          <a:solidFill>
            <a:srgbClr val="F6F6F6"/>
          </a:solidFill>
          <a:ln w="19050">
            <a:solidFill>
              <a:srgbClr val="E84A2C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22960" y="5148072"/>
            <a:ext cx="4572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E84A2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1463040" y="5074920"/>
            <a:ext cx="4297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Puente al Wizard 2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1463040" y="5440680"/>
            <a:ext cx="4480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250" dirty="0">
                <a:solidFill>
                  <a:srgbClr val="7373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“Ir a configuración completa” lista lo que falta para vender más.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6400800" y="1783080"/>
            <a:ext cx="4937760" cy="4297680"/>
          </a:xfrm>
          <a:prstGeom prst="rect">
            <a:avLst/>
          </a:prstGeom>
          <a:solidFill>
            <a:srgbClr val="1A1A1A"/>
          </a:solidFill>
          <a:ln/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6766560" y="2103120"/>
            <a:ext cx="4297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E84A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GUION DE CIERRE (en el producto)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6766560" y="2606040"/>
            <a:ext cx="429768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600"/>
              </a:lnSpc>
              <a:buNone/>
            </a:pPr>
            <a:r>
              <a:rPr lang="en-US" sz="1800" i="1" dirty="0">
                <a:solidFill>
                  <a:srgbClr val="CADCF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“[Nombre], tu sitio está listo. ¿Querés que veamos cómo activar el plan para que siga activo después del trial?</a:t>
            </a:r>
            <a:endParaRPr lang="en-US" sz="1800" dirty="0"/>
          </a:p>
          <a:p>
            <a:pPr indent="0" marL="0">
              <a:lnSpc>
                <a:spcPts val="2600"/>
              </a:lnSpc>
              <a:buNone/>
            </a:pPr>
            <a:endParaRPr lang="en-US" sz="1800" dirty="0"/>
          </a:p>
          <a:p>
            <a:pPr indent="0" marL="0">
              <a:lnSpc>
                <a:spcPts val="2600"/>
              </a:lnSpc>
              <a:buNone/>
            </a:pPr>
            <a:r>
              <a:rPr lang="en-US" sz="1800" b="1" i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Con 3 reservas directas que antes iban a Booking, el plan ya se paga.”</a:t>
            </a:r>
            <a:endParaRPr lang="en-US" sz="1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22960" y="676656"/>
            <a:ext cx="146304" cy="146304"/>
          </a:xfrm>
          <a:prstGeom prst="ellipse">
            <a:avLst/>
          </a:prstGeom>
          <a:solidFill>
            <a:srgbClr val="1A4DCC"/>
          </a:solidFill>
          <a:ln/>
        </p:spPr>
      </p:sp>
      <p:sp>
        <p:nvSpPr>
          <p:cNvPr id="3" name="Text 1"/>
          <p:cNvSpPr/>
          <p:nvPr/>
        </p:nvSpPr>
        <p:spPr>
          <a:xfrm>
            <a:off x="1060704" y="59436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200" kern="0" dirty="0">
                <a:solidFill>
                  <a:srgbClr val="1A4D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WIZARD 2 · CONFIGURACIÓN COMPLETA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822960" y="960120"/>
            <a:ext cx="10515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25 minutos hasta el resultado de negocio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822960" y="1691640"/>
            <a:ext cx="10515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7373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Acá vive el valor diferencial de PXSOL: SEO/GEO, Schema.org, multilenguaje. Se completa de forma gradual y guiada.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868680" y="2286000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LANZAMIENTO · SEMANA 1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822960" y="2697480"/>
            <a:ext cx="5029200" cy="749808"/>
          </a:xfrm>
          <a:prstGeom prst="rect">
            <a:avLst/>
          </a:prstGeom>
          <a:solidFill>
            <a:srgbClr val="F6F6F6"/>
          </a:solidFill>
          <a:ln w="12700">
            <a:solidFill>
              <a:srgbClr val="D9D9D9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822960" y="2697480"/>
            <a:ext cx="91440" cy="749808"/>
          </a:xfrm>
          <a:prstGeom prst="rect">
            <a:avLst/>
          </a:prstGeom>
          <a:solidFill>
            <a:srgbClr val="22C55E"/>
          </a:solidFill>
          <a:ln/>
        </p:spPr>
      </p:sp>
      <p:sp>
        <p:nvSpPr>
          <p:cNvPr id="9" name="Text 7"/>
          <p:cNvSpPr/>
          <p:nvPr/>
        </p:nvSpPr>
        <p:spPr>
          <a:xfrm>
            <a:off x="1115568" y="2788920"/>
            <a:ext cx="4572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Perfil completo</a:t>
            </a:r>
            <a:endParaRPr lang="en-US" sz="1450" dirty="0"/>
          </a:p>
        </p:txBody>
      </p:sp>
      <p:sp>
        <p:nvSpPr>
          <p:cNvPr id="10" name="Text 8"/>
          <p:cNvSpPr/>
          <p:nvPr/>
        </p:nvSpPr>
        <p:spPr>
          <a:xfrm>
            <a:off x="1115568" y="3090672"/>
            <a:ext cx="4572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7373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Email corporativo + descripción con IA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822960" y="3566160"/>
            <a:ext cx="5029200" cy="749808"/>
          </a:xfrm>
          <a:prstGeom prst="rect">
            <a:avLst/>
          </a:prstGeom>
          <a:solidFill>
            <a:srgbClr val="F6F6F6"/>
          </a:solidFill>
          <a:ln w="12700">
            <a:solidFill>
              <a:srgbClr val="D9D9D9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822960" y="3566160"/>
            <a:ext cx="91440" cy="749808"/>
          </a:xfrm>
          <a:prstGeom prst="rect">
            <a:avLst/>
          </a:prstGeom>
          <a:solidFill>
            <a:srgbClr val="22C55E"/>
          </a:solidFill>
          <a:ln/>
        </p:spPr>
      </p:sp>
      <p:sp>
        <p:nvSpPr>
          <p:cNvPr id="13" name="Text 11"/>
          <p:cNvSpPr/>
          <p:nvPr/>
        </p:nvSpPr>
        <p:spPr>
          <a:xfrm>
            <a:off x="1115568" y="3657600"/>
            <a:ext cx="4572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Redes sociales</a:t>
            </a:r>
            <a:endParaRPr lang="en-US" sz="1450" dirty="0"/>
          </a:p>
        </p:txBody>
      </p:sp>
      <p:sp>
        <p:nvSpPr>
          <p:cNvPr id="14" name="Text 12"/>
          <p:cNvSpPr/>
          <p:nvPr/>
        </p:nvSpPr>
        <p:spPr>
          <a:xfrm>
            <a:off x="1115568" y="3959352"/>
            <a:ext cx="4572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7373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Instagram y WhatsApp, los canales clave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822960" y="4434840"/>
            <a:ext cx="5029200" cy="749808"/>
          </a:xfrm>
          <a:prstGeom prst="rect">
            <a:avLst/>
          </a:prstGeom>
          <a:solidFill>
            <a:srgbClr val="F6F6F6"/>
          </a:solidFill>
          <a:ln w="12700">
            <a:solidFill>
              <a:srgbClr val="D9D9D9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822960" y="4434840"/>
            <a:ext cx="91440" cy="749808"/>
          </a:xfrm>
          <a:prstGeom prst="rect">
            <a:avLst/>
          </a:prstGeom>
          <a:solidFill>
            <a:srgbClr val="22C55E"/>
          </a:solidFill>
          <a:ln/>
        </p:spPr>
      </p:sp>
      <p:sp>
        <p:nvSpPr>
          <p:cNvPr id="17" name="Text 15"/>
          <p:cNvSpPr/>
          <p:nvPr/>
        </p:nvSpPr>
        <p:spPr>
          <a:xfrm>
            <a:off x="1115568" y="4526280"/>
            <a:ext cx="4572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Ubicación y POI</a:t>
            </a:r>
            <a:endParaRPr lang="en-US" sz="1450" dirty="0"/>
          </a:p>
        </p:txBody>
      </p:sp>
      <p:sp>
        <p:nvSpPr>
          <p:cNvPr id="18" name="Text 16"/>
          <p:cNvSpPr/>
          <p:nvPr/>
        </p:nvSpPr>
        <p:spPr>
          <a:xfrm>
            <a:off x="1115568" y="4828032"/>
            <a:ext cx="4572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7373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Aeropuerto + atracciones = SEO local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822960" y="5303520"/>
            <a:ext cx="5029200" cy="749808"/>
          </a:xfrm>
          <a:prstGeom prst="rect">
            <a:avLst/>
          </a:prstGeom>
          <a:solidFill>
            <a:srgbClr val="F6F6F6"/>
          </a:solidFill>
          <a:ln w="12700">
            <a:solidFill>
              <a:srgbClr val="D9D9D9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822960" y="5303520"/>
            <a:ext cx="91440" cy="749808"/>
          </a:xfrm>
          <a:prstGeom prst="rect">
            <a:avLst/>
          </a:prstGeom>
          <a:solidFill>
            <a:srgbClr val="22C55E"/>
          </a:solidFill>
          <a:ln/>
        </p:spPr>
      </p:sp>
      <p:sp>
        <p:nvSpPr>
          <p:cNvPr id="21" name="Text 19"/>
          <p:cNvSpPr/>
          <p:nvPr/>
        </p:nvSpPr>
        <p:spPr>
          <a:xfrm>
            <a:off x="1115568" y="5394960"/>
            <a:ext cx="4572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SEO y Schema.org</a:t>
            </a:r>
            <a:endParaRPr lang="en-US" sz="1450" dirty="0"/>
          </a:p>
        </p:txBody>
      </p:sp>
      <p:sp>
        <p:nvSpPr>
          <p:cNvPr id="22" name="Text 20"/>
          <p:cNvSpPr/>
          <p:nvPr/>
        </p:nvSpPr>
        <p:spPr>
          <a:xfrm>
            <a:off x="1115568" y="5696712"/>
            <a:ext cx="4572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7373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Aparecer en ChatGPT y Perplexity</a:t>
            </a:r>
            <a:endParaRPr lang="en-US" sz="1150" dirty="0"/>
          </a:p>
        </p:txBody>
      </p:sp>
      <p:sp>
        <p:nvSpPr>
          <p:cNvPr id="23" name="Text 21"/>
          <p:cNvSpPr/>
          <p:nvPr/>
        </p:nvSpPr>
        <p:spPr>
          <a:xfrm>
            <a:off x="6309360" y="2286000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F29E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CRECIMIENTO · MES 1-3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6263640" y="2697480"/>
            <a:ext cx="5029200" cy="749808"/>
          </a:xfrm>
          <a:prstGeom prst="rect">
            <a:avLst/>
          </a:prstGeom>
          <a:solidFill>
            <a:srgbClr val="F6F6F6"/>
          </a:solidFill>
          <a:ln w="12700">
            <a:solidFill>
              <a:srgbClr val="D9D9D9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6263640" y="2697480"/>
            <a:ext cx="91440" cy="749808"/>
          </a:xfrm>
          <a:prstGeom prst="rect">
            <a:avLst/>
          </a:prstGeom>
          <a:solidFill>
            <a:srgbClr val="F29E11"/>
          </a:solidFill>
          <a:ln/>
        </p:spPr>
      </p:sp>
      <p:sp>
        <p:nvSpPr>
          <p:cNvPr id="26" name="Text 24"/>
          <p:cNvSpPr/>
          <p:nvPr/>
        </p:nvSpPr>
        <p:spPr>
          <a:xfrm>
            <a:off x="6556248" y="2788920"/>
            <a:ext cx="4572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Idiomas y monedas</a:t>
            </a:r>
            <a:endParaRPr lang="en-US" sz="1450" dirty="0"/>
          </a:p>
        </p:txBody>
      </p:sp>
      <p:sp>
        <p:nvSpPr>
          <p:cNvPr id="27" name="Text 25"/>
          <p:cNvSpPr/>
          <p:nvPr/>
        </p:nvSpPr>
        <p:spPr>
          <a:xfrm>
            <a:off x="6556248" y="3090672"/>
            <a:ext cx="4572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7373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idioma suma búsquedas internacionales</a:t>
            </a:r>
            <a:endParaRPr lang="en-US" sz="1150" dirty="0"/>
          </a:p>
        </p:txBody>
      </p:sp>
      <p:sp>
        <p:nvSpPr>
          <p:cNvPr id="28" name="Shape 26"/>
          <p:cNvSpPr/>
          <p:nvPr/>
        </p:nvSpPr>
        <p:spPr>
          <a:xfrm>
            <a:off x="6263640" y="3566160"/>
            <a:ext cx="5029200" cy="749808"/>
          </a:xfrm>
          <a:prstGeom prst="rect">
            <a:avLst/>
          </a:prstGeom>
          <a:solidFill>
            <a:srgbClr val="F6F6F6"/>
          </a:solidFill>
          <a:ln w="12700">
            <a:solidFill>
              <a:srgbClr val="D9D9D9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6263640" y="3566160"/>
            <a:ext cx="91440" cy="749808"/>
          </a:xfrm>
          <a:prstGeom prst="rect">
            <a:avLst/>
          </a:prstGeom>
          <a:solidFill>
            <a:srgbClr val="F29E11"/>
          </a:solidFill>
          <a:ln/>
        </p:spPr>
      </p:sp>
      <p:sp>
        <p:nvSpPr>
          <p:cNvPr id="30" name="Text 28"/>
          <p:cNvSpPr/>
          <p:nvPr/>
        </p:nvSpPr>
        <p:spPr>
          <a:xfrm>
            <a:off x="6556248" y="3657600"/>
            <a:ext cx="4572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Páginas adicionales</a:t>
            </a:r>
            <a:endParaRPr lang="en-US" sz="1450" dirty="0"/>
          </a:p>
        </p:txBody>
      </p:sp>
      <p:sp>
        <p:nvSpPr>
          <p:cNvPr id="31" name="Text 29"/>
          <p:cNvSpPr/>
          <p:nvPr/>
        </p:nvSpPr>
        <p:spPr>
          <a:xfrm>
            <a:off x="6556248" y="3959352"/>
            <a:ext cx="4572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7373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“Experiencias”: mayor tiempo de permanencia</a:t>
            </a:r>
            <a:endParaRPr lang="en-US" sz="1150" dirty="0"/>
          </a:p>
        </p:txBody>
      </p:sp>
      <p:sp>
        <p:nvSpPr>
          <p:cNvPr id="32" name="Shape 30"/>
          <p:cNvSpPr/>
          <p:nvPr/>
        </p:nvSpPr>
        <p:spPr>
          <a:xfrm>
            <a:off x="6263640" y="4434840"/>
            <a:ext cx="5029200" cy="749808"/>
          </a:xfrm>
          <a:prstGeom prst="rect">
            <a:avLst/>
          </a:prstGeom>
          <a:solidFill>
            <a:srgbClr val="F6F6F6"/>
          </a:solidFill>
          <a:ln w="12700">
            <a:solidFill>
              <a:srgbClr val="D9D9D9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6263640" y="4434840"/>
            <a:ext cx="91440" cy="749808"/>
          </a:xfrm>
          <a:prstGeom prst="rect">
            <a:avLst/>
          </a:prstGeom>
          <a:solidFill>
            <a:srgbClr val="F29E11"/>
          </a:solidFill>
          <a:ln/>
        </p:spPr>
      </p:sp>
      <p:sp>
        <p:nvSpPr>
          <p:cNvPr id="34" name="Text 32"/>
          <p:cNvSpPr/>
          <p:nvPr/>
        </p:nvSpPr>
        <p:spPr>
          <a:xfrm>
            <a:off x="6556248" y="4526280"/>
            <a:ext cx="4572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Políticas y pagos</a:t>
            </a:r>
            <a:endParaRPr lang="en-US" sz="1450" dirty="0"/>
          </a:p>
        </p:txBody>
      </p:sp>
      <p:sp>
        <p:nvSpPr>
          <p:cNvPr id="35" name="Text 33"/>
          <p:cNvSpPr/>
          <p:nvPr/>
        </p:nvSpPr>
        <p:spPr>
          <a:xfrm>
            <a:off x="6556248" y="4828032"/>
            <a:ext cx="4572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7373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política flexible sube la conversión</a:t>
            </a:r>
            <a:endParaRPr lang="en-US" sz="1150" dirty="0"/>
          </a:p>
        </p:txBody>
      </p:sp>
      <p:sp>
        <p:nvSpPr>
          <p:cNvPr id="36" name="Shape 34"/>
          <p:cNvSpPr/>
          <p:nvPr/>
        </p:nvSpPr>
        <p:spPr>
          <a:xfrm>
            <a:off x="6263640" y="5303520"/>
            <a:ext cx="5029200" cy="749808"/>
          </a:xfrm>
          <a:prstGeom prst="rect">
            <a:avLst/>
          </a:prstGeom>
          <a:solidFill>
            <a:srgbClr val="F6F6F6"/>
          </a:solidFill>
          <a:ln w="12700">
            <a:solidFill>
              <a:srgbClr val="D9D9D9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6263640" y="5303520"/>
            <a:ext cx="91440" cy="749808"/>
          </a:xfrm>
          <a:prstGeom prst="rect">
            <a:avLst/>
          </a:prstGeom>
          <a:solidFill>
            <a:srgbClr val="F29E11"/>
          </a:solidFill>
          <a:ln/>
        </p:spPr>
      </p:sp>
      <p:sp>
        <p:nvSpPr>
          <p:cNvPr id="38" name="Text 36"/>
          <p:cNvSpPr/>
          <p:nvPr/>
        </p:nvSpPr>
        <p:spPr>
          <a:xfrm>
            <a:off x="6556248" y="5394960"/>
            <a:ext cx="4572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Lanzamiento</a:t>
            </a:r>
            <a:endParaRPr lang="en-US" sz="1450" dirty="0"/>
          </a:p>
        </p:txBody>
      </p:sp>
      <p:sp>
        <p:nvSpPr>
          <p:cNvPr id="39" name="Text 37"/>
          <p:cNvSpPr/>
          <p:nvPr/>
        </p:nvSpPr>
        <p:spPr>
          <a:xfrm>
            <a:off x="6556248" y="5696712"/>
            <a:ext cx="4572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7373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Publicar + revisión a 30 días</a:t>
            </a:r>
            <a:endParaRPr lang="en-US" sz="11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22960" y="676656"/>
            <a:ext cx="146304" cy="146304"/>
          </a:xfrm>
          <a:prstGeom prst="ellipse">
            <a:avLst/>
          </a:prstGeom>
          <a:solidFill>
            <a:srgbClr val="1A4DCC"/>
          </a:solidFill>
          <a:ln/>
        </p:spPr>
      </p:sp>
      <p:sp>
        <p:nvSpPr>
          <p:cNvPr id="3" name="Text 1"/>
          <p:cNvSpPr/>
          <p:nvPr/>
        </p:nvSpPr>
        <p:spPr>
          <a:xfrm>
            <a:off x="1060704" y="59436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200" kern="0" dirty="0">
                <a:solidFill>
                  <a:srgbClr val="1A4D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MÁS ALLÁ DE LOS WIZARDS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822960" y="960120"/>
            <a:ext cx="10515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Cómo el producto empuja a completar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822960" y="169164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7373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sistema de “nudges” hace el seguimiento que antes dependía 100% del asesor.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822960" y="2331720"/>
            <a:ext cx="5212080" cy="1097280"/>
          </a:xfrm>
          <a:prstGeom prst="rect">
            <a:avLst/>
          </a:prstGeom>
          <a:solidFill>
            <a:srgbClr val="F6F6F6"/>
          </a:solidFill>
          <a:ln w="12700">
            <a:solidFill>
              <a:srgbClr val="D9D9D9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1097280" y="2624328"/>
            <a:ext cx="502920" cy="502920"/>
          </a:xfrm>
          <a:prstGeom prst="ellipse">
            <a:avLst/>
          </a:prstGeom>
          <a:solidFill>
            <a:srgbClr val="1A4DCC"/>
          </a:solidFill>
          <a:ln/>
        </p:spPr>
      </p:sp>
      <p:sp>
        <p:nvSpPr>
          <p:cNvPr id="8" name="Text 6"/>
          <p:cNvSpPr/>
          <p:nvPr/>
        </p:nvSpPr>
        <p:spPr>
          <a:xfrm>
            <a:off x="1097280" y="2660904"/>
            <a:ext cx="5029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1783080" y="2532888"/>
            <a:ext cx="4023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Tarjeta de progreso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783080" y="2862072"/>
            <a:ext cx="4023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7373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el dashboard: “% de tu configuración” + qué falta + CTA para continuar.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6309360" y="2331720"/>
            <a:ext cx="5212080" cy="1097280"/>
          </a:xfrm>
          <a:prstGeom prst="rect">
            <a:avLst/>
          </a:prstGeom>
          <a:solidFill>
            <a:srgbClr val="F6F6F6"/>
          </a:solidFill>
          <a:ln w="12700">
            <a:solidFill>
              <a:srgbClr val="D9D9D9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6583680" y="2624328"/>
            <a:ext cx="502920" cy="502920"/>
          </a:xfrm>
          <a:prstGeom prst="ellipse">
            <a:avLst/>
          </a:prstGeom>
          <a:solidFill>
            <a:srgbClr val="1A4DCC"/>
          </a:solidFill>
          <a:ln/>
        </p:spPr>
      </p:sp>
      <p:sp>
        <p:nvSpPr>
          <p:cNvPr id="13" name="Text 11"/>
          <p:cNvSpPr/>
          <p:nvPr/>
        </p:nvSpPr>
        <p:spPr>
          <a:xfrm>
            <a:off x="6583680" y="2660904"/>
            <a:ext cx="5029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7269480" y="2532888"/>
            <a:ext cx="4023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KPIs accionables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7269480" y="2862072"/>
            <a:ext cx="4023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7373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“Buscadores activos: 1 de 3 → Activá Schema.org”. Las métricas empujan.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822960" y="3611880"/>
            <a:ext cx="5212080" cy="1097280"/>
          </a:xfrm>
          <a:prstGeom prst="rect">
            <a:avLst/>
          </a:prstGeom>
          <a:solidFill>
            <a:srgbClr val="F6F6F6"/>
          </a:solidFill>
          <a:ln w="12700">
            <a:solidFill>
              <a:srgbClr val="D9D9D9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1097280" y="3904488"/>
            <a:ext cx="502920" cy="502920"/>
          </a:xfrm>
          <a:prstGeom prst="ellipse">
            <a:avLst/>
          </a:prstGeom>
          <a:solidFill>
            <a:srgbClr val="1A4DCC"/>
          </a:solidFill>
          <a:ln/>
        </p:spPr>
      </p:sp>
      <p:sp>
        <p:nvSpPr>
          <p:cNvPr id="18" name="Text 16"/>
          <p:cNvSpPr/>
          <p:nvPr/>
        </p:nvSpPr>
        <p:spPr>
          <a:xfrm>
            <a:off x="1097280" y="3941064"/>
            <a:ext cx="5029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1783080" y="3813048"/>
            <a:ext cx="4023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Sitios pendientes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1783080" y="4142232"/>
            <a:ext cx="4023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7373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“Setup incompleto” retoma el wizard exactamente donde quedó.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6309360" y="3611880"/>
            <a:ext cx="5212080" cy="1097280"/>
          </a:xfrm>
          <a:prstGeom prst="rect">
            <a:avLst/>
          </a:prstGeom>
          <a:solidFill>
            <a:srgbClr val="F6F6F6"/>
          </a:solidFill>
          <a:ln w="12700">
            <a:solidFill>
              <a:srgbClr val="D9D9D9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6583680" y="3904488"/>
            <a:ext cx="502920" cy="502920"/>
          </a:xfrm>
          <a:prstGeom prst="ellipse">
            <a:avLst/>
          </a:prstGeom>
          <a:solidFill>
            <a:srgbClr val="1A4DCC"/>
          </a:solidFill>
          <a:ln/>
        </p:spPr>
      </p:sp>
      <p:sp>
        <p:nvSpPr>
          <p:cNvPr id="23" name="Text 21"/>
          <p:cNvSpPr/>
          <p:nvPr/>
        </p:nvSpPr>
        <p:spPr>
          <a:xfrm>
            <a:off x="6583680" y="3941064"/>
            <a:ext cx="5029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7269480" y="3813048"/>
            <a:ext cx="4023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Contador de trial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7269480" y="4142232"/>
            <a:ext cx="4023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7373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 días siempre visible: completá y publicá antes de que termine.</a:t>
            </a:r>
            <a:endParaRPr lang="en-US" sz="1250" dirty="0"/>
          </a:p>
        </p:txBody>
      </p:sp>
      <p:sp>
        <p:nvSpPr>
          <p:cNvPr id="26" name="Shape 24"/>
          <p:cNvSpPr/>
          <p:nvPr/>
        </p:nvSpPr>
        <p:spPr>
          <a:xfrm>
            <a:off x="822960" y="4892040"/>
            <a:ext cx="10607040" cy="1097280"/>
          </a:xfrm>
          <a:prstGeom prst="rect">
            <a:avLst/>
          </a:prstGeom>
          <a:solidFill>
            <a:srgbClr val="F6F6F6"/>
          </a:solidFill>
          <a:ln w="12700">
            <a:solidFill>
              <a:srgbClr val="D9D9D9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1097280" y="5184648"/>
            <a:ext cx="502920" cy="502920"/>
          </a:xfrm>
          <a:prstGeom prst="ellipse">
            <a:avLst/>
          </a:prstGeom>
          <a:solidFill>
            <a:srgbClr val="1A4DCC"/>
          </a:solidFill>
          <a:ln/>
        </p:spPr>
      </p:sp>
      <p:sp>
        <p:nvSpPr>
          <p:cNvPr id="28" name="Text 26"/>
          <p:cNvSpPr/>
          <p:nvPr/>
        </p:nvSpPr>
        <p:spPr>
          <a:xfrm>
            <a:off x="1097280" y="5221224"/>
            <a:ext cx="5029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</a:t>
            </a:r>
            <a:endParaRPr lang="en-US" sz="1800" dirty="0"/>
          </a:p>
        </p:txBody>
      </p:sp>
      <p:sp>
        <p:nvSpPr>
          <p:cNvPr id="29" name="Text 27"/>
          <p:cNvSpPr/>
          <p:nvPr/>
        </p:nvSpPr>
        <p:spPr>
          <a:xfrm>
            <a:off x="1783080" y="5093208"/>
            <a:ext cx="9418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Acompañamiento humano</a:t>
            </a:r>
            <a:endParaRPr lang="en-US" sz="1600" dirty="0"/>
          </a:p>
        </p:txBody>
      </p:sp>
      <p:sp>
        <p:nvSpPr>
          <p:cNvPr id="30" name="Text 28"/>
          <p:cNvSpPr/>
          <p:nvPr/>
        </p:nvSpPr>
        <p:spPr>
          <a:xfrm>
            <a:off x="1783080" y="5422392"/>
            <a:ext cx="9418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7373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asesor especializado usa los guiones embebidos en cada etapa.</a:t>
            </a:r>
            <a:endParaRPr lang="en-US" sz="12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6F6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22960" y="676656"/>
            <a:ext cx="146304" cy="146304"/>
          </a:xfrm>
          <a:prstGeom prst="ellipse">
            <a:avLst/>
          </a:prstGeom>
          <a:solidFill>
            <a:srgbClr val="E84A2C"/>
          </a:solidFill>
          <a:ln/>
        </p:spPr>
      </p:sp>
      <p:sp>
        <p:nvSpPr>
          <p:cNvPr id="3" name="Text 1"/>
          <p:cNvSpPr/>
          <p:nvPr/>
        </p:nvSpPr>
        <p:spPr>
          <a:xfrm>
            <a:off x="1060704" y="59436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200" kern="0" dirty="0">
                <a:solidFill>
                  <a:srgbClr val="E84A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RECORRIDO COMPLETO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822960" y="960120"/>
            <a:ext cx="10515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El embudo comercial</a:t>
            </a:r>
            <a:endParaRPr lang="en-US" sz="3600" dirty="0"/>
          </a:p>
        </p:txBody>
      </p:sp>
      <p:sp>
        <p:nvSpPr>
          <p:cNvPr id="5" name="Shape 3"/>
          <p:cNvSpPr/>
          <p:nvPr/>
        </p:nvSpPr>
        <p:spPr>
          <a:xfrm>
            <a:off x="822960" y="2377440"/>
            <a:ext cx="2103120" cy="2743200"/>
          </a:xfrm>
          <a:prstGeom prst="rect">
            <a:avLst/>
          </a:prstGeom>
          <a:solidFill>
            <a:srgbClr val="FFFFFF"/>
          </a:solidFill>
          <a:ln w="12700">
            <a:solidFill>
              <a:srgbClr val="D9D9D9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822960" y="2377440"/>
            <a:ext cx="2103120" cy="109728"/>
          </a:xfrm>
          <a:prstGeom prst="rect">
            <a:avLst/>
          </a:prstGeom>
          <a:solidFill>
            <a:srgbClr val="E84A2C"/>
          </a:solidFill>
          <a:ln/>
        </p:spPr>
      </p:sp>
      <p:sp>
        <p:nvSpPr>
          <p:cNvPr id="7" name="Text 5"/>
          <p:cNvSpPr/>
          <p:nvPr/>
        </p:nvSpPr>
        <p:spPr>
          <a:xfrm>
            <a:off x="1097280" y="2697480"/>
            <a:ext cx="914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E84A2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3000" dirty="0"/>
          </a:p>
        </p:txBody>
      </p:sp>
      <p:sp>
        <p:nvSpPr>
          <p:cNvPr id="8" name="Text 6"/>
          <p:cNvSpPr/>
          <p:nvPr/>
        </p:nvSpPr>
        <p:spPr>
          <a:xfrm>
            <a:off x="1097280" y="3337560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Activación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1097280" y="374904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E84A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W1 · 5 MIN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1097280" y="4069080"/>
            <a:ext cx="1600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7373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“Mi sitio existe y se ve pro”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2907792" y="3383280"/>
            <a:ext cx="20116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7373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200" dirty="0"/>
          </a:p>
        </p:txBody>
      </p:sp>
      <p:sp>
        <p:nvSpPr>
          <p:cNvPr id="12" name="Shape 10"/>
          <p:cNvSpPr/>
          <p:nvPr/>
        </p:nvSpPr>
        <p:spPr>
          <a:xfrm>
            <a:off x="3090672" y="2377440"/>
            <a:ext cx="2103120" cy="2743200"/>
          </a:xfrm>
          <a:prstGeom prst="rect">
            <a:avLst/>
          </a:prstGeom>
          <a:solidFill>
            <a:srgbClr val="FFFFFF"/>
          </a:solidFill>
          <a:ln w="12700">
            <a:solidFill>
              <a:srgbClr val="D9D9D9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3090672" y="2377440"/>
            <a:ext cx="2103120" cy="109728"/>
          </a:xfrm>
          <a:prstGeom prst="rect">
            <a:avLst/>
          </a:prstGeom>
          <a:solidFill>
            <a:srgbClr val="1A4DCC"/>
          </a:solidFill>
          <a:ln/>
        </p:spPr>
      </p:sp>
      <p:sp>
        <p:nvSpPr>
          <p:cNvPr id="14" name="Text 12"/>
          <p:cNvSpPr/>
          <p:nvPr/>
        </p:nvSpPr>
        <p:spPr>
          <a:xfrm>
            <a:off x="3364992" y="2697480"/>
            <a:ext cx="914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4DC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3000" dirty="0"/>
          </a:p>
        </p:txBody>
      </p:sp>
      <p:sp>
        <p:nvSpPr>
          <p:cNvPr id="15" name="Text 13"/>
          <p:cNvSpPr/>
          <p:nvPr/>
        </p:nvSpPr>
        <p:spPr>
          <a:xfrm>
            <a:off x="3364992" y="3337560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Retención</a:t>
            </a:r>
            <a:endParaRPr lang="en-US" sz="1700" dirty="0"/>
          </a:p>
        </p:txBody>
      </p:sp>
      <p:sp>
        <p:nvSpPr>
          <p:cNvPr id="16" name="Text 14"/>
          <p:cNvSpPr/>
          <p:nvPr/>
        </p:nvSpPr>
        <p:spPr>
          <a:xfrm>
            <a:off x="3364992" y="374904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1A4D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W2 · GRADUAL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3364992" y="4069080"/>
            <a:ext cx="1600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7373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“Mi sitio vende y posiciona”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5175504" y="3383280"/>
            <a:ext cx="20116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7373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200" dirty="0"/>
          </a:p>
        </p:txBody>
      </p:sp>
      <p:sp>
        <p:nvSpPr>
          <p:cNvPr id="19" name="Shape 17"/>
          <p:cNvSpPr/>
          <p:nvPr/>
        </p:nvSpPr>
        <p:spPr>
          <a:xfrm>
            <a:off x="5358384" y="2377440"/>
            <a:ext cx="2103120" cy="2743200"/>
          </a:xfrm>
          <a:prstGeom prst="rect">
            <a:avLst/>
          </a:prstGeom>
          <a:solidFill>
            <a:srgbClr val="FFFFFF"/>
          </a:solidFill>
          <a:ln w="12700">
            <a:solidFill>
              <a:srgbClr val="D9D9D9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5358384" y="2377440"/>
            <a:ext cx="2103120" cy="109728"/>
          </a:xfrm>
          <a:prstGeom prst="rect">
            <a:avLst/>
          </a:prstGeom>
          <a:solidFill>
            <a:srgbClr val="22C55E"/>
          </a:solidFill>
          <a:ln/>
        </p:spPr>
      </p:sp>
      <p:sp>
        <p:nvSpPr>
          <p:cNvPr id="21" name="Text 19"/>
          <p:cNvSpPr/>
          <p:nvPr/>
        </p:nvSpPr>
        <p:spPr>
          <a:xfrm>
            <a:off x="5632704" y="2697480"/>
            <a:ext cx="914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2C55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3000" dirty="0"/>
          </a:p>
        </p:txBody>
      </p:sp>
      <p:sp>
        <p:nvSpPr>
          <p:cNvPr id="22" name="Text 20"/>
          <p:cNvSpPr/>
          <p:nvPr/>
        </p:nvSpPr>
        <p:spPr>
          <a:xfrm>
            <a:off x="5632704" y="3337560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Valor percibido</a:t>
            </a:r>
            <a:endParaRPr lang="en-US" sz="1700" dirty="0"/>
          </a:p>
        </p:txBody>
      </p:sp>
      <p:sp>
        <p:nvSpPr>
          <p:cNvPr id="23" name="Text 21"/>
          <p:cNvSpPr/>
          <p:nvPr/>
        </p:nvSpPr>
        <p:spPr>
          <a:xfrm>
            <a:off x="5632704" y="374904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NUDGES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5632704" y="4069080"/>
            <a:ext cx="1600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7373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Schema.org + multilenguaje activos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7443216" y="3383280"/>
            <a:ext cx="20116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7373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200" dirty="0"/>
          </a:p>
        </p:txBody>
      </p:sp>
      <p:sp>
        <p:nvSpPr>
          <p:cNvPr id="26" name="Shape 24"/>
          <p:cNvSpPr/>
          <p:nvPr/>
        </p:nvSpPr>
        <p:spPr>
          <a:xfrm>
            <a:off x="7626096" y="2377440"/>
            <a:ext cx="2103120" cy="2743200"/>
          </a:xfrm>
          <a:prstGeom prst="rect">
            <a:avLst/>
          </a:prstGeom>
          <a:solidFill>
            <a:srgbClr val="FFFFFF"/>
          </a:solidFill>
          <a:ln w="12700">
            <a:solidFill>
              <a:srgbClr val="D9D9D9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7626096" y="2377440"/>
            <a:ext cx="2103120" cy="109728"/>
          </a:xfrm>
          <a:prstGeom prst="rect">
            <a:avLst/>
          </a:prstGeom>
          <a:solidFill>
            <a:srgbClr val="E84A2C"/>
          </a:solidFill>
          <a:ln/>
        </p:spPr>
      </p:sp>
      <p:sp>
        <p:nvSpPr>
          <p:cNvPr id="28" name="Text 26"/>
          <p:cNvSpPr/>
          <p:nvPr/>
        </p:nvSpPr>
        <p:spPr>
          <a:xfrm>
            <a:off x="7900416" y="2697480"/>
            <a:ext cx="914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E84A2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3000" dirty="0"/>
          </a:p>
        </p:txBody>
      </p:sp>
      <p:sp>
        <p:nvSpPr>
          <p:cNvPr id="29" name="Text 27"/>
          <p:cNvSpPr/>
          <p:nvPr/>
        </p:nvSpPr>
        <p:spPr>
          <a:xfrm>
            <a:off x="7900416" y="3337560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Venta</a:t>
            </a:r>
            <a:endParaRPr lang="en-US" sz="1700" dirty="0"/>
          </a:p>
        </p:txBody>
      </p:sp>
      <p:sp>
        <p:nvSpPr>
          <p:cNvPr id="30" name="Text 28"/>
          <p:cNvSpPr/>
          <p:nvPr/>
        </p:nvSpPr>
        <p:spPr>
          <a:xfrm>
            <a:off x="7900416" y="374904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E84A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REVISIÓN 30 DÍAS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7900416" y="4069080"/>
            <a:ext cx="1600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7373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Conversión a plan pago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9710928" y="3383280"/>
            <a:ext cx="20116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7373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200" dirty="0"/>
          </a:p>
        </p:txBody>
      </p:sp>
      <p:sp>
        <p:nvSpPr>
          <p:cNvPr id="33" name="Shape 31"/>
          <p:cNvSpPr/>
          <p:nvPr/>
        </p:nvSpPr>
        <p:spPr>
          <a:xfrm>
            <a:off x="9893808" y="2377440"/>
            <a:ext cx="2103120" cy="2743200"/>
          </a:xfrm>
          <a:prstGeom prst="rect">
            <a:avLst/>
          </a:prstGeom>
          <a:solidFill>
            <a:srgbClr val="FFFFFF"/>
          </a:solidFill>
          <a:ln w="12700">
            <a:solidFill>
              <a:srgbClr val="D9D9D9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34" name="Shape 32"/>
          <p:cNvSpPr/>
          <p:nvPr/>
        </p:nvSpPr>
        <p:spPr>
          <a:xfrm>
            <a:off x="9893808" y="2377440"/>
            <a:ext cx="2103120" cy="109728"/>
          </a:xfrm>
          <a:prstGeom prst="rect">
            <a:avLst/>
          </a:prstGeom>
          <a:solidFill>
            <a:srgbClr val="1A1A1A"/>
          </a:solidFill>
          <a:ln/>
        </p:spPr>
      </p:sp>
      <p:sp>
        <p:nvSpPr>
          <p:cNvPr id="35" name="Text 33"/>
          <p:cNvSpPr/>
          <p:nvPr/>
        </p:nvSpPr>
        <p:spPr>
          <a:xfrm>
            <a:off x="10168128" y="2697480"/>
            <a:ext cx="914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</a:t>
            </a:r>
            <a:endParaRPr lang="en-US" sz="3000" dirty="0"/>
          </a:p>
        </p:txBody>
      </p:sp>
      <p:sp>
        <p:nvSpPr>
          <p:cNvPr id="36" name="Text 34"/>
          <p:cNvSpPr/>
          <p:nvPr/>
        </p:nvSpPr>
        <p:spPr>
          <a:xfrm>
            <a:off x="10168128" y="3337560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Expansión</a:t>
            </a:r>
            <a:endParaRPr lang="en-US" sz="1700" dirty="0"/>
          </a:p>
        </p:txBody>
      </p:sp>
      <p:sp>
        <p:nvSpPr>
          <p:cNvPr id="37" name="Text 35"/>
          <p:cNvSpPr/>
          <p:nvPr/>
        </p:nvSpPr>
        <p:spPr>
          <a:xfrm>
            <a:off x="10168128" y="374904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ADICIONALES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10168128" y="4069080"/>
            <a:ext cx="1600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7373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Custom, Blog, Métricas, Premium</a:t>
            </a:r>
            <a:endParaRPr lang="en-US" sz="1200" dirty="0"/>
          </a:p>
        </p:txBody>
      </p:sp>
      <p:sp>
        <p:nvSpPr>
          <p:cNvPr id="39" name="Text 37"/>
          <p:cNvSpPr/>
          <p:nvPr/>
        </p:nvSpPr>
        <p:spPr>
          <a:xfrm>
            <a:off x="822960" y="562356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W1 vende la </a:t>
            </a:r>
            <a:pPr algn="ctr" indent="0" marL="0">
              <a:buNone/>
            </a:pPr>
            <a:r>
              <a:rPr lang="en-US" sz="1600" b="1" i="1" dirty="0">
                <a:solidFill>
                  <a:srgbClr val="E84A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velocidad</a:t>
            </a:r>
            <a:pPr algn="ctr" indent="0" marL="0">
              <a:buNone/>
            </a:pPr>
            <a:r>
              <a:rPr lang="en-US" sz="16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  El W2 vende el </a:t>
            </a:r>
            <a:pPr algn="ctr" indent="0" marL="0">
              <a:buNone/>
            </a:pPr>
            <a:r>
              <a:rPr lang="en-US" sz="1600" b="1" i="1" dirty="0">
                <a:solidFill>
                  <a:srgbClr val="1A4D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resultado de negocio</a:t>
            </a:r>
            <a:pPr algn="ctr" indent="0" marL="0">
              <a:buNone/>
            </a:pPr>
            <a:r>
              <a:rPr lang="en-US" sz="16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(+38% reservas directas).</a:t>
            </a:r>
            <a:endParaRPr lang="en-US" sz="16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A1A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22960" y="777240"/>
            <a:ext cx="182880" cy="182880"/>
          </a:xfrm>
          <a:prstGeom prst="ellipse">
            <a:avLst/>
          </a:prstGeom>
          <a:solidFill>
            <a:srgbClr val="E84A2C"/>
          </a:solidFill>
          <a:ln/>
        </p:spPr>
      </p:sp>
      <p:sp>
        <p:nvSpPr>
          <p:cNvPr id="3" name="Text 1"/>
          <p:cNvSpPr/>
          <p:nvPr/>
        </p:nvSpPr>
        <p:spPr>
          <a:xfrm>
            <a:off x="1097280" y="68580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E84A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MENSAJE CENTRAL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822960" y="2103120"/>
            <a:ext cx="1051560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5600"/>
              </a:lnSpc>
              <a:buNone/>
            </a:pPr>
            <a:r>
              <a:rPr lang="en-US" sz="5000" b="1" dirty="0">
                <a:solidFill>
                  <a:srgbClr val="E84A2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 reservas directas</a:t>
            </a:r>
            <a:pPr indent="0" marL="0">
              <a:lnSpc>
                <a:spcPts val="5600"/>
              </a:lnSpc>
              <a:buNone/>
            </a:pPr>
            <a:r>
              <a:rPr lang="en-US" sz="5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que dejan de ir a Booking</a:t>
            </a:r>
            <a:pPr indent="0" marL="0">
              <a:lnSpc>
                <a:spcPts val="5600"/>
              </a:lnSpc>
              <a:buNone/>
            </a:pPr>
            <a:endParaRPr lang="en-US" sz="5000" dirty="0"/>
          </a:p>
          <a:p>
            <a:pPr indent="0" marL="0">
              <a:lnSpc>
                <a:spcPts val="5600"/>
              </a:lnSpc>
              <a:buNone/>
            </a:pPr>
            <a:r>
              <a:rPr lang="en-US" sz="5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pagan el plan.</a:t>
            </a:r>
            <a:endParaRPr lang="en-US" sz="5000" dirty="0"/>
          </a:p>
        </p:txBody>
      </p:sp>
      <p:sp>
        <p:nvSpPr>
          <p:cNvPr id="5" name="Text 3"/>
          <p:cNvSpPr/>
          <p:nvPr/>
        </p:nvSpPr>
        <p:spPr>
          <a:xfrm>
            <a:off x="841248" y="4572000"/>
            <a:ext cx="9601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400"/>
              </a:lnSpc>
              <a:buNone/>
            </a:pPr>
            <a:r>
              <a:rPr lang="en-US" sz="17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Todo el recorrido — los dos wizards y los nudges — ancla siempre en este número. Es la conversación de cierre más simple y más honesta que tiene el comercial.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841248" y="612648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373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PXSOL Web · Vertical Web &amp; Marketing para Hoteles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Los dos wizards de configuración — propuesta comercial</dc:title>
  <dc:subject>PptxGenJS Presentation</dc:subject>
  <dc:creator>PXSOL Web</dc:creator>
  <cp:lastModifiedBy>PXSOL Web</cp:lastModifiedBy>
  <cp:revision>1</cp:revision>
  <dcterms:created xsi:type="dcterms:W3CDTF">2026-05-27T21:08:27Z</dcterms:created>
  <dcterms:modified xsi:type="dcterms:W3CDTF">2026-05-27T21:08:27Z</dcterms:modified>
</cp:coreProperties>
</file>